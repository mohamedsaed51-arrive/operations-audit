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غلاف" id="{617e098f-c80a-4e1f-6daa-436b77b56372}">
          <p14:sldIdLst>
            <p14:sldId id="256"/>
          </p14:sldIdLst>
        </p14:section>
        <p14:section name="الملخص" id="{43d8296a-e4f4-468d-9837-9b73f052aca8}">
          <p14:sldIdLst>
            <p14:sldId id="257"/>
          </p14:sldIdLst>
        </p14:section>
        <p14:section name="جودة البيانات" id="{b2e99c04-a3d0-c3ca-e271-3596c544e35e}">
          <p14:sldIdLst>
            <p14:sldId id="258"/>
          </p14:sldIdLst>
        </p14:section>
        <p14:section name="المطابقة الصباحية" id="{9d624ff5-ad19-e7f8-50e1-2979d09439fe}">
          <p14:sldIdLst>
            <p14:sldId id="259"/>
          </p14:sldIdLst>
        </p14:section>
        <p14:section name="مطابقة التحويلات" id="{7ac9d431-ceaf-7c26-db8a-7d47559f3eab}">
          <p14:sldIdLst>
            <p14:sldId id="260"/>
            <p14:sldId id="261"/>
          </p14:sldIdLst>
        </p14:section>
        <p14:section name="مسح الحالات" id="{3d4289a3-3cba-0ecd-f726-e86649d11d52}">
          <p14:sldIdLst>
            <p14:sldId id="262"/>
          </p14:sldIdLst>
        </p14:section>
        <p14:section name="رصد المشاكل" id="{ef6a2f74-2ca7-b529-5090-cfb70c7a7fca}">
          <p14:sldIdLst>
            <p14:sldId id="263"/>
          </p14:sldIdLst>
        </p14:section>
        <p14:section name="لائحة الجزاءات" id="{51b20cfa-e036-61c3-63c8-35f1c1d815e0}">
          <p14:sldIdLst>
            <p14:sldId id="264"/>
          </p14:sldIdLst>
        </p14:section>
        <p14:section name="Miss Pickup" id="{c83bc35a-b79d-65b8-b70e-a59358a1dc11}">
          <p14:sldIdLst>
            <p14:sldId id="265"/>
          </p14:sldIdLst>
        </p14:section>
        <p14:section name="الجهات" id="{ef5db38e-26a0-c1cd-921a-3d1cf1994aea}">
          <p14:sldIdLst>
            <p14:sldId id="266"/>
          </p14:sldIdLst>
        </p14:section>
        <p14:section name="التوصيات" id="{7e7d163f-00fc-952c-08c3-ba230604729b}">
          <p14:sldIdLst>
            <p14:sldId id="267"/>
          </p14:sldIdLst>
        </p14:section>
        <p14:section name="الملاحق" id="{1f62f4c4-8f2f-1a0b-2a7d-5c7d1812db7e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F172A"/>
                </a:solidFill>
                <a:latin typeface="Arial"/>
              </a:rPr>
              <a:t>نسبة المطابقة المكتملة شهريًا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نسبة المطابقة المكتملة %</c:v>
                </c:pt>
              </c:strCache>
            </c:strRef>
          </c:tx>
          <c:spPr>
            <a:solidFill>
              <a:srgbClr val="0837C9"/>
            </a:solidFill>
            <a:ln w="38100" cap="flat">
              <a:solidFill>
                <a:srgbClr val="0837C9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0837C9"/>
              </a:solidFill>
              <a:ln w="9525" cap="flat">
                <a:solidFill>
                  <a:srgbClr val="0837C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أبريل</c:v>
                  </c:pt>
                  <c:pt idx="1">
                    <c:v>مايو</c:v>
                  </c:pt>
                  <c:pt idx="2">
                    <c:v>يونيو</c:v>
                  </c:pt>
                  <c:pt idx="3">
                    <c:v>يوليو</c:v>
                  </c:pt>
                  <c:pt idx="4">
                    <c:v>أغسطس</c:v>
                  </c:pt>
                  <c:pt idx="5">
                    <c:v>سبتمبر</c:v>
                  </c:pt>
                  <c:pt idx="6">
                    <c:v>أكتوبر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70.7</c:v>
                </c:pt>
                <c:pt idx="1">
                  <c:v>75.6</c:v>
                </c:pt>
                <c:pt idx="2">
                  <c:v>72.6</c:v>
                </c:pt>
                <c:pt idx="3">
                  <c:v>71.9</c:v>
                </c:pt>
                <c:pt idx="4">
                  <c:v>79</c:v>
                </c:pt>
                <c:pt idx="5">
                  <c:v>75.3</c:v>
                </c:pt>
                <c:pt idx="6">
                  <c:v>74.4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"/>
          <c:min val="60"/>
        </c:scaling>
        <c:delete val="0"/>
        <c:axPos val="l"/>
        <c:majorGridlines>
          <c:spPr>
            <a:ln w="6350" cap="flat">
              <a:solidFill>
                <a:srgbClr val="E4E9F4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نسبة غير الصحيح %</c:v>
                </c:pt>
              </c:strCache>
            </c:strRef>
          </c:tx>
          <c:spPr>
            <a:solidFill>
              <a:srgbClr val="D92D2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92D2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2D2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2D2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2D2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837C9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837C9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837C9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837C9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837C9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837C9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0837C9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0837C9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0837C9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0837C9"/>
              </a:solidFill>
              <a:effectLst/>
            </c:spPr>
          </c:dPt>
          <c:cat>
            <c:multiLvlStrRef>
              <c:f>Sheet1!$A$2:$A$15</c:f>
              <c:multiLvlStrCache>
                <c:ptCount val="14"/>
                <c:lvl>
                  <c:pt idx="0">
                    <c:v>المنصوره</c:v>
                  </c:pt>
                  <c:pt idx="1">
                    <c:v>الاسماعيليه</c:v>
                  </c:pt>
                  <c:pt idx="2">
                    <c:v>قليوب</c:v>
                  </c:pt>
                  <c:pt idx="3">
                    <c:v>الزقازيق</c:v>
                  </c:pt>
                  <c:pt idx="4">
                    <c:v>الشروق</c:v>
                  </c:pt>
                  <c:pt idx="5">
                    <c:v>طنطا</c:v>
                  </c:pt>
                  <c:pt idx="6">
                    <c:v>العجوزه</c:v>
                  </c:pt>
                  <c:pt idx="7">
                    <c:v>مدينه نصر</c:v>
                  </c:pt>
                  <c:pt idx="8">
                    <c:v>الهرم</c:v>
                  </c:pt>
                  <c:pt idx="9">
                    <c:v>الاسكندرية</c:v>
                  </c:pt>
                  <c:pt idx="10">
                    <c:v>اكتوبر</c:v>
                  </c:pt>
                  <c:pt idx="11">
                    <c:v>حدائق القبه</c:v>
                  </c:pt>
                  <c:pt idx="12">
                    <c:v>المعادي</c:v>
                  </c:pt>
                  <c:pt idx="13">
                    <c:v>المؤسسه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100</c:v>
                </c:pt>
                <c:pt idx="1">
                  <c:v>100</c:v>
                </c:pt>
                <c:pt idx="2">
                  <c:v>98.4</c:v>
                </c:pt>
                <c:pt idx="3">
                  <c:v>98.3</c:v>
                </c:pt>
                <c:pt idx="4">
                  <c:v>25.9</c:v>
                </c:pt>
                <c:pt idx="5">
                  <c:v>22.6</c:v>
                </c:pt>
                <c:pt idx="6">
                  <c:v>21.2</c:v>
                </c:pt>
                <c:pt idx="7">
                  <c:v>11.9</c:v>
                </c:pt>
                <c:pt idx="8">
                  <c:v>9.5</c:v>
                </c:pt>
                <c:pt idx="9">
                  <c:v>8.7</c:v>
                </c:pt>
                <c:pt idx="10">
                  <c:v>8.4</c:v>
                </c:pt>
                <c:pt idx="11">
                  <c:v>6.2</c:v>
                </c:pt>
                <c:pt idx="12">
                  <c:v>5.2</c:v>
                </c:pt>
                <c:pt idx="13">
                  <c:v>2.6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F172A"/>
                </a:solidFill>
                <a:latin typeface="Arial"/>
              </a:rPr>
              <a:t>وظيفة المخطئ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عدد الحالات</c:v>
                </c:pt>
              </c:strCache>
            </c:strRef>
          </c:tx>
          <c:spPr>
            <a:solidFill>
              <a:srgbClr val="0837C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مندوب</c:v>
                  </c:pt>
                  <c:pt idx="1">
                    <c:v>الاوبريشن</c:v>
                  </c:pt>
                  <c:pt idx="2">
                    <c:v>الوكيل</c:v>
                  </c:pt>
                  <c:pt idx="3">
                    <c:v>متابعه</c:v>
                  </c:pt>
                  <c:pt idx="4">
                    <c:v>سيستم</c:v>
                  </c:pt>
                  <c:pt idx="5">
                    <c:v>خدمة العملاء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470</c:v>
                </c:pt>
                <c:pt idx="1">
                  <c:v>135</c:v>
                </c:pt>
                <c:pt idx="2">
                  <c:v>84</c:v>
                </c:pt>
                <c:pt idx="3">
                  <c:v>55</c:v>
                </c:pt>
                <c:pt idx="4">
                  <c:v>26</c:v>
                </c:pt>
                <c:pt idx="5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6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التأخر في الجرد</c:v>
                </c:pt>
              </c:strCache>
            </c:strRef>
          </c:tx>
          <c:spPr>
            <a:solidFill>
              <a:srgbClr val="0837C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يوليو</c:v>
                  </c:pt>
                  <c:pt idx="1">
                    <c:v>أغسطس</c:v>
                  </c:pt>
                  <c:pt idx="2">
                    <c:v>سبتمبر</c:v>
                  </c:pt>
                  <c:pt idx="3">
                    <c:v>أكتوبر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155</c:v>
                </c:pt>
                <c:pt idx="1">
                  <c:v>121</c:v>
                </c:pt>
                <c:pt idx="2">
                  <c:v>99</c:v>
                </c:pt>
                <c:pt idx="3">
                  <c:v>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عدم الاستلام</c:v>
                </c:pt>
              </c:strCache>
            </c:strRef>
          </c:tx>
          <c:spPr>
            <a:solidFill>
              <a:srgbClr val="D92D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يوليو</c:v>
                  </c:pt>
                  <c:pt idx="1">
                    <c:v>أغسطس</c:v>
                  </c:pt>
                  <c:pt idx="2">
                    <c:v>سبتمبر</c:v>
                  </c:pt>
                  <c:pt idx="3">
                    <c:v>أكتوبر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78</c:v>
                </c:pt>
                <c:pt idx="1">
                  <c:v>54</c:v>
                </c:pt>
                <c:pt idx="2">
                  <c:v>58</c:v>
                </c:pt>
                <c:pt idx="3">
                  <c:v>57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أنواع أخرى</c:v>
                </c:pt>
              </c:strCache>
            </c:strRef>
          </c:tx>
          <c:spPr>
            <a:solidFill>
              <a:srgbClr val="A8B3C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يوليو</c:v>
                  </c:pt>
                  <c:pt idx="1">
                    <c:v>أغسطس</c:v>
                  </c:pt>
                  <c:pt idx="2">
                    <c:v>سبتمبر</c:v>
                  </c:pt>
                  <c:pt idx="3">
                    <c:v>أكتوبر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14</c:v>
                </c:pt>
                <c:pt idx="1">
                  <c:v>12</c:v>
                </c:pt>
                <c:pt idx="2">
                  <c:v>116</c:v>
                </c:pt>
                <c:pt idx="3">
                  <c:v>204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إحالة للتحقيق</c:v>
                </c:pt>
              </c:strCache>
            </c:strRef>
          </c:tx>
          <c:spPr>
            <a:solidFill>
              <a:srgbClr val="0837C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يوليو</c:v>
                  </c:pt>
                  <c:pt idx="1">
                    <c:v>أغسطس</c:v>
                  </c:pt>
                  <c:pt idx="2">
                    <c:v>سبتمبر</c:v>
                  </c:pt>
                  <c:pt idx="3">
                    <c:v>أكتوبر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25</c:v>
                </c:pt>
                <c:pt idx="2">
                  <c:v>11</c:v>
                </c:pt>
                <c:pt idx="3">
                  <c:v>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تعدي عدد الإجراءات</c:v>
                </c:pt>
              </c:strCache>
            </c:strRef>
          </c:tx>
          <c:spPr>
            <a:solidFill>
              <a:srgbClr val="D92D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يوليو</c:v>
                  </c:pt>
                  <c:pt idx="1">
                    <c:v>أغسطس</c:v>
                  </c:pt>
                  <c:pt idx="2">
                    <c:v>سبتمبر</c:v>
                  </c:pt>
                  <c:pt idx="3">
                    <c:v>أكتوبر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28</c:v>
                </c:pt>
                <c:pt idx="1">
                  <c:v>20</c:v>
                </c:pt>
                <c:pt idx="2">
                  <c:v>11</c:v>
                </c:pt>
                <c:pt idx="3">
                  <c:v>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F172A"/>
                </a:solidFill>
                <a:latin typeface="Arial"/>
              </a:rPr>
              <a:t>الفرع المخطئ حسب الشيت (غير مؤكد)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عدد الحالات</c:v>
                </c:pt>
              </c:strCache>
            </c:strRef>
          </c:tx>
          <c:spPr>
            <a:solidFill>
              <a:srgbClr val="0837C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لا يوجد مخطئ</c:v>
                  </c:pt>
                  <c:pt idx="1">
                    <c:v>خدمه العملاء</c:v>
                  </c:pt>
                  <c:pt idx="2">
                    <c:v>الرئيسي</c:v>
                  </c:pt>
                  <c:pt idx="3">
                    <c:v>العجوزة</c:v>
                  </c:pt>
                  <c:pt idx="4">
                    <c:v>الشروق</c:v>
                  </c:pt>
                  <c:pt idx="5">
                    <c:v>اسكندريه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44</c:v>
                </c:pt>
                <c:pt idx="1">
                  <c:v>31</c:v>
                </c:pt>
                <c:pt idx="2">
                  <c:v>13</c:v>
                </c:pt>
                <c:pt idx="3">
                  <c:v>3</c:v>
                </c:pt>
                <c:pt idx="4">
                  <c:v>3</c:v>
                </c:pt>
                <c:pt idx="5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الأرقام في هذا العرض محسوبة من بيانات داشبورد الرقابة التشغيلية (اللقطة المضمّنة في الصفحة حتى 2026-10-26). قد تكون أحدث من ذلك في الشيت المباشر.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المصدر: داشبورد الرقابة التشغيلية. نسبة التحويل الصحيح = تحويل صحيح ÷ السجلات التي لها حكم. نسبة المطابقة المكتملة = مطابقة مكتملة ÷ السجلات التي لها حالة تبليغ. الفروع الأربعة: المنصورة، الإسماعيلية، قليوب، الزقازيق.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الاستبعاد: المطابقة الصباحية 2 سجل، التحويلات 10 (9 بتاريخ غير صالح + صف عناوين مكرر)، المشاكل 52، الجزاءات 1. مصدر التكرار: عمود البوليصة. اللقطة بتاريخ 2026-10-26.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نسبة المطابقة المكتملة = مطابقة مكتملة ÷ (مكتملة + غير مكتملة + لم يتم التبليغ). الأخطاء المسجلة = السجلات التي سبب الخطأ فيها غير فارغ وغير «لا يوجد خطأ». أغسطس: {"n":367,"stat":357,"comp":282,"comp_rate":79,"errs":2,"err_rate":0.5,"open":2,"open_rate":100} سبتمبر: {"n":364,"stat":364,"comp":274,"comp_rate":75.3,"errs":97,"err_rate":26.6,"open":0,"open_rate":0}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نسبة غير الصحيح = (لم يتم استلامها + تحويل خطأ + عدم تعديل على السيستم) ÷ السجلات التي لها حكم. بيانات التحويلات تنتهي 05-10 في هذه اللقطة.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الفروع الأربعة تبدأ تواريخها: المنصورة 01-08، الإسماعيلية 03-08، قليوب 01-08، الزقازيق 17-08. نتيجة الحكم لها: [["المنصوره",95],["الاسماعيليه",110],["قليوب",190],["الزقازيق",60]]. هذا مؤشر نمط وليس إثباتًا لتقصير الفرع.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سبتمبر كامل (439 سجلاً) وأكتوبر حتى 26-10 (345 سجلاً)؛ الفترتان بطول مختلف فالنسب أدق من الأعداد المطلقة. لا يوجد مقام لحجم عمل الفرع فلا تُحسب معدلات للفروع.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أنواع المشاكل الأخرى تشمل: عدم تحديث، تأخير تقفيل مرتجعات، مفقودات، وسجلات بلا نوع (175). مايو سجلان فقط وأبريل 36 (ما يدل على بدء التسجيل تدريجيًا).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أكتوبر حتى 26-10 (114 إجراءً) وسبتمبر كامل (89 إجراءً). النسب تقارن إجراءات الشهر بإجمالي إجراءاته. الإجراء الواحد قد يجمع تحذيرًا وخصمًا وإحالة.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البيانات تقرير واحد بتاريخ 26-10-2026؛ مقارنة الفترات تتطلب تراكم تقارير بتواريخ مختلفة. 44 + 31 = 75 حالة (71.4%).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عمود الفرع المخطئ متاح في المطابقة الصباحية والتحويلات فقط. في باقي اللوحات يُعرض الفرع المسجل في السجل.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الأولوية مقترحة من إدارة المراجعة، وتحتاج اعتماد الإدارة. لم يُسند مسؤول أو موعد لأنه غير موجود في المصدر.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جميع الأرقام أعيد حسابها من بيانات الداشبورد وطابقت قيم لوحة أكتوبر (المطابقة الصباحية 74.4%، التحويلات 89.3%، المسح 82.9%، المشاكل 36/57، الجزاءات 32/37/38).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0" y="6446520"/>
            <a:ext cx="5513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المراجعة – ARRIVE  |  تقرير الرقابة التشغيلية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خلفية الشعار"/>
          <p:cNvSpPr/>
          <p:nvPr/>
        </p:nvSpPr>
        <p:spPr>
          <a:xfrm>
            <a:off x="8732520" y="548640"/>
            <a:ext cx="292608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شعار ARRIVE" descr="شعار ARRI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0" y="713232"/>
            <a:ext cx="2468880" cy="6949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2860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تقرير الرقابة التشغيلية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918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ملخص تنفيذي لإدارة الشركة من داشبورد الرقابة التشغيلية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1148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الفترة: يناير – أكتوبر 2026  |  آخر تاريخ في بيانات اللوحة: 26 أكتوبر 2026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إعداد: إدارة المراجعة – ARRIVE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العنوان"/>
          <p:cNvSpPr txBox="1"/>
          <p:nvPr/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الملخص التنفيذي</a:t>
            </a:r>
            <a:endParaRPr lang="en-US" sz="3000" dirty="0"/>
          </a:p>
        </p:txBody>
      </p:sp>
      <p:sp>
        <p:nvSpPr>
          <p:cNvPr id="3" name="العنوان الفرعي"/>
          <p:cNvSpPr txBox="1"/>
          <p:nvPr/>
        </p:nvSpPr>
        <p:spPr>
          <a:xfrm>
            <a:off x="548640" y="120700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أهم ما تظهره بيانات الرقابة التشغيلية ومتطلبات القرار</a:t>
            </a:r>
            <a:endParaRPr lang="en-US" sz="1400" dirty="0"/>
          </a:p>
        </p:txBody>
      </p:sp>
      <p:sp>
        <p:nvSpPr>
          <p:cNvPr id="4" name="بطاقة تحويلات صحيحة"/>
          <p:cNvSpPr/>
          <p:nvPr/>
        </p:nvSpPr>
        <p:spPr>
          <a:xfrm>
            <a:off x="9038844" y="1783080"/>
            <a:ext cx="2601468" cy="1965960"/>
          </a:xfrm>
          <a:prstGeom prst="roundRect">
            <a:avLst>
              <a:gd name="adj" fmla="val 5581"/>
            </a:avLst>
          </a:prstGeom>
          <a:solidFill>
            <a:srgbClr val="F4F7FE"/>
          </a:solidFill>
          <a:ln w="9525">
            <a:solidFill>
              <a:srgbClr val="D8E0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221724" y="1947672"/>
            <a:ext cx="2235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12B7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9221724" y="2743200"/>
            <a:ext cx="223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تحويلات صحيحة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221724" y="3108960"/>
            <a:ext cx="22357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4,490 من 5,474 تحويلًا محكومًا عليه</a:t>
            </a:r>
            <a:endParaRPr lang="en-US" sz="1200" dirty="0"/>
          </a:p>
        </p:txBody>
      </p:sp>
      <p:sp>
        <p:nvSpPr>
          <p:cNvPr id="8" name="بطاقة غير مستلمة في 4 فروع"/>
          <p:cNvSpPr/>
          <p:nvPr/>
        </p:nvSpPr>
        <p:spPr>
          <a:xfrm>
            <a:off x="6208776" y="1783080"/>
            <a:ext cx="2601468" cy="1965960"/>
          </a:xfrm>
          <a:prstGeom prst="roundRect">
            <a:avLst>
              <a:gd name="adj" fmla="val 5581"/>
            </a:avLst>
          </a:prstGeom>
          <a:solidFill>
            <a:srgbClr val="F4F7FE"/>
          </a:solidFill>
          <a:ln w="9525">
            <a:solidFill>
              <a:srgbClr val="D8E0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91656" y="1947672"/>
            <a:ext cx="2235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D9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391656" y="2743200"/>
            <a:ext cx="223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غير مستلمة في 4 فروع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391656" y="3108960"/>
            <a:ext cx="22357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451 من 635 تحويلًا</a:t>
            </a:r>
            <a:endParaRPr lang="en-US" sz="1200" dirty="0"/>
          </a:p>
        </p:txBody>
      </p:sp>
      <p:sp>
        <p:nvSpPr>
          <p:cNvPr id="12" name="بطاقة مطابقة صباحية مكتملة"/>
          <p:cNvSpPr/>
          <p:nvPr/>
        </p:nvSpPr>
        <p:spPr>
          <a:xfrm>
            <a:off x="3378708" y="1783080"/>
            <a:ext cx="2601468" cy="1965960"/>
          </a:xfrm>
          <a:prstGeom prst="roundRect">
            <a:avLst>
              <a:gd name="adj" fmla="val 5581"/>
            </a:avLst>
          </a:prstGeom>
          <a:solidFill>
            <a:srgbClr val="F4F7FE"/>
          </a:solidFill>
          <a:ln w="9525">
            <a:solidFill>
              <a:srgbClr val="D8E0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61588" y="1947672"/>
            <a:ext cx="2235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083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74.5%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3561588" y="2743200"/>
            <a:ext cx="223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مطابقة صباحية مكتملة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561588" y="3108960"/>
            <a:ext cx="22357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1,688 من 2,267 سجلًا له حالة تبليغ</a:t>
            </a:r>
            <a:endParaRPr lang="en-US" sz="1200" dirty="0"/>
          </a:p>
        </p:txBody>
      </p:sp>
      <p:sp>
        <p:nvSpPr>
          <p:cNvPr id="16" name="بطاقة مسح مرتبط بمندوب"/>
          <p:cNvSpPr/>
          <p:nvPr/>
        </p:nvSpPr>
        <p:spPr>
          <a:xfrm>
            <a:off x="548640" y="1783080"/>
            <a:ext cx="2601468" cy="1965960"/>
          </a:xfrm>
          <a:prstGeom prst="roundRect">
            <a:avLst>
              <a:gd name="adj" fmla="val 5581"/>
            </a:avLst>
          </a:prstGeom>
          <a:solidFill>
            <a:srgbClr val="F4F7FE"/>
          </a:solidFill>
          <a:ln w="9525">
            <a:solidFill>
              <a:srgbClr val="D8E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1947672"/>
            <a:ext cx="2235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F790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59.9%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2743200"/>
            <a:ext cx="22357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مسح مرتبط بمندوب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3108960"/>
            <a:ext cx="22357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470 من 784 حالة مسح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9776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أبرز الرسائل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389120"/>
            <a:ext cx="110916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التحويلات: 984 تحويلًا غير صحيح (18%)؛ بدون الفروع الأربعة (المنصورة، الإسماعيلية، قليوب، الزقازيق) تصل نسبة الصحيح إلى 89.4%.</a:t>
            </a:r>
            <a:endParaRPr lang="en-US" sz="15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المطابقة الصباحية: 58.3% من الحالات المنسوب فيها خطأ لفرع محدد منسوبة إلى «الرئيسي» (228 من 391).</a:t>
            </a:r>
            <a:endParaRPr lang="en-US" sz="15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الجزاءات: في أكتوبر 38 إجراءً (33.3%) تعدّى عدد الإجراءات المسموح، مقابل 11 في سبتمبر.</a:t>
            </a:r>
            <a:endParaRPr lang="en-US" sz="15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 Pickup: كل الحالات الـ 105 المسجلة «لم يرد الفرع» ومراجعة الأوديت لم تبدأ بعد.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العنوان"/>
          <p:cNvSpPr txBox="1"/>
          <p:nvPr/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نطاق البيانات وحدودها</a:t>
            </a:r>
            <a:endParaRPr lang="en-US" sz="3000" dirty="0"/>
          </a:p>
        </p:txBody>
      </p:sp>
      <p:sp>
        <p:nvSpPr>
          <p:cNvPr id="3" name="العنوان الفرعي"/>
          <p:cNvSpPr txBox="1"/>
          <p:nvPr/>
        </p:nvSpPr>
        <p:spPr>
          <a:xfrm>
            <a:off x="548640" y="120700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الذي تغطيه كل لوحة فعلاً — قراءة الأرقام تتطلب معرفة هذه الحدود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4416552"/>
                <a:gridCol w="2743200"/>
                <a:gridCol w="173736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ملاحظة تؤثر على القراءة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C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الفترة المغطاة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C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السجلات المعتمدة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C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اللوحة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C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D92D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يناير–مارس بلا حالة تبليغ؛ نسبة الأخطاء غير متسقة بين الأشهر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من 1 يناير 2026 إلى 26 أكتوبر 2026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3,468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المطابقة الصباحية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D92D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آخر سجل 5 أكتوبر — لا بيانات بعده في هذه اللقطة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من 1 أغسطس 2026 إلى 5 أكتوبر 2026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5,560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مطابقة التحويلات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سبتمبر وأكتوبر فقط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من 1 سبتمبر 2026 إلى 26 أكتوبر 2026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مسح الحالات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D92D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مايو: سجلان فقط؛ استُبعد 52 سجلًا بتاريخ غير صالح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من 13 أبريل 2026 إلى 26 أكتوبر 2026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1,114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رصد المشاكل اليومي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تبدأ من 8 يونيو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من 8 يونيو 2026 إلى 26 أكتوبر 2026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لائحة الجزاءات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D92D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لا يمكن قياس اتجاه — تاريخ تقرير واحد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 أكتوبر 2026 (تقرير واحد)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 Pickup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4406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سجلات مكررة: في مطابقة التحويلات 585 بوليصة ظهرت أكثر من مرة (763 سجلًا إضافيًا)، والداشبورد يعدّ كل سجل مستقلًا.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الأرقام من اللقطة المضمّنة في الداشبورد؛ الشيت المباشر قد يحتوي سجلات أحدث.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العنوان"/>
          <p:cNvSpPr txBox="1"/>
          <p:nvPr/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المطابقة الصباحية: نسبة المطابقة المكتملة مستقرة قرب 75%</a:t>
            </a:r>
            <a:endParaRPr lang="en-US" sz="3000" dirty="0"/>
          </a:p>
        </p:txBody>
      </p:sp>
      <p:sp>
        <p:nvSpPr>
          <p:cNvPr id="3" name="العنوان الفرعي"/>
          <p:cNvSpPr txBox="1"/>
          <p:nvPr/>
        </p:nvSpPr>
        <p:spPr>
          <a:xfrm>
            <a:off x="548640" y="120700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مطابقة التسليم والتسلم بين الإدارة الرئيسية والفروع — الأشهر التي فيها حالة تبليغ (أبريل – أكتوبر)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63093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بطاقة مطابقة مكتملة (يناير–أكتوبر)"/>
          <p:cNvSpPr/>
          <p:nvPr/>
        </p:nvSpPr>
        <p:spPr>
          <a:xfrm>
            <a:off x="6885432" y="1828800"/>
            <a:ext cx="4754880" cy="1600200"/>
          </a:xfrm>
          <a:prstGeom prst="roundRect">
            <a:avLst>
              <a:gd name="adj" fmla="val 6857"/>
            </a:avLst>
          </a:prstGeom>
          <a:solidFill>
            <a:srgbClr val="F4F7FE"/>
          </a:solidFill>
          <a:ln w="9525">
            <a:solidFill>
              <a:srgbClr val="D8E0F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068312" y="1993392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083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74.5%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068312" y="2788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مطابقة مكتملة (يناير–أكتوبر)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068312" y="315468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1,688 من 2,267 سجلًا له حالة تبليغ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086600" y="3611880"/>
            <a:ext cx="45537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1,201 سجلًا (34.6%) بلا حالة تبليغ، معظمها يناير–مارس، ولا تدخل في النسبة.</a:t>
            </a:r>
            <a:endParaRPr lang="en-US" sz="14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«الرئيسي» أكثر جهة منسوب إليها الخطأ: 228 من 391 حالة (58.3%).</a:t>
            </a:r>
            <a:endParaRPr lang="en-US" sz="14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أكثر أسباب الخطأ: تبليغ خاطئ (192)، شحنات غير مدرجه (133).</a:t>
            </a:r>
            <a:endParaRPr lang="en-US" sz="14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نسبة الأخطاء لا تصلح للمقارنة بين الأشهر: أغسطس 0.5% مقابل سبتمبر 26.6%، مما يدل على اختلاف في التسجيل لا في الأداء.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العنوان"/>
          <p:cNvSpPr txBox="1"/>
          <p:nvPr/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مطابقة التحويلات: 82% صحيحة، والمشكلة مركّزة في أربعة فروع</a:t>
            </a:r>
            <a:endParaRPr lang="en-US" sz="3000" dirty="0"/>
          </a:p>
        </p:txBody>
      </p:sp>
      <p:sp>
        <p:nvSpPr>
          <p:cNvPr id="3" name="العنوان الفرعي"/>
          <p:cNvSpPr txBox="1"/>
          <p:nvPr/>
        </p:nvSpPr>
        <p:spPr>
          <a:xfrm>
            <a:off x="548640" y="120700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نسبة التحويلات غير الصحيحة حسب فرع التحويل (فروع لديها 30 سجلًا محكومًا عليه فأكثر)، من 1 أغسطس إلى 5 أكتوبر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737360"/>
          <a:ext cx="6885432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بطاقة تحويلات غير صحيحة"/>
          <p:cNvSpPr/>
          <p:nvPr/>
        </p:nvSpPr>
        <p:spPr>
          <a:xfrm>
            <a:off x="548640" y="1783080"/>
            <a:ext cx="3931920" cy="1600200"/>
          </a:xfrm>
          <a:prstGeom prst="roundRect">
            <a:avLst>
              <a:gd name="adj" fmla="val 6857"/>
            </a:avLst>
          </a:prstGeom>
          <a:solidFill>
            <a:srgbClr val="F4F7FE"/>
          </a:solidFill>
          <a:ln w="9525">
            <a:solidFill>
              <a:srgbClr val="D8E0F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94767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D9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743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تحويلات غير صحيحة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10896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984 من 5,474 تحويلًا محكومًا عليه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611880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 يتم استلامها: 635 (11.6%)</a:t>
            </a:r>
            <a:endParaRPr lang="en-US" sz="14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تحويل خطأ: 223 (4.1%)</a:t>
            </a:r>
            <a:endParaRPr lang="en-US" sz="14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عدم تعديل على السيستم: 126 (2.3%)</a:t>
            </a:r>
            <a:endParaRPr lang="en-US" sz="14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الأحمر: الفروع الأربعة التي تكاد كل تحويلاتها «لم يتم استلامها».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العنوان"/>
          <p:cNvSpPr txBox="1"/>
          <p:nvPr/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 من التحويلات «غير المستلمة» تخص أربعة فروع فقط</a:t>
            </a:r>
            <a:endParaRPr lang="en-US" sz="3000" dirty="0"/>
          </a:p>
        </p:txBody>
      </p:sp>
      <p:sp>
        <p:nvSpPr>
          <p:cNvPr id="3" name="العنوان الفرعي"/>
          <p:cNvSpPr txBox="1"/>
          <p:nvPr/>
        </p:nvSpPr>
        <p:spPr>
          <a:xfrm>
            <a:off x="548640" y="120700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المنصورة والإسماعيلية وقليوب والزقازيق — الحالة تتطلب فحصاً قبل الحكم على أداء هذه الفروع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39512" y="1783080"/>
          <a:ext cx="64008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554480"/>
                <a:gridCol w="173736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النسبة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C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لم يتم استلامها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C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تحويلات محكوم عليها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C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الفرع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C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D92D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المنصوره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D92D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الاسماعيليه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D92D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98.4%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قليوب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D92D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98.3%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الزقازيق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D92D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99.1%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الفروع الأربعة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</a:tr>
            </a:tbl>
          </a:graphicData>
        </a:graphic>
      </p:graphicFrame>
      <p:sp>
        <p:nvSpPr>
          <p:cNvPr id="5" name="بطاقة نسبة الصحيح في باقي الفروع"/>
          <p:cNvSpPr/>
          <p:nvPr/>
        </p:nvSpPr>
        <p:spPr>
          <a:xfrm>
            <a:off x="548640" y="1783080"/>
            <a:ext cx="4572000" cy="1737360"/>
          </a:xfrm>
          <a:prstGeom prst="roundRect">
            <a:avLst>
              <a:gd name="adj" fmla="val 6316"/>
            </a:avLst>
          </a:prstGeom>
          <a:solidFill>
            <a:srgbClr val="F4F7FE"/>
          </a:solidFill>
          <a:ln w="9525">
            <a:solidFill>
              <a:srgbClr val="D8E0F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94767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12B7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89.4%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743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نسبة الصحيح في باقي الفروع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1089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4,486 من 5,019 تحويلًا (10 فروع)</a:t>
            </a:r>
            <a:endParaRPr lang="en-US" sz="1200" dirty="0"/>
          </a:p>
        </p:txBody>
      </p:sp>
      <p:sp>
        <p:nvSpPr>
          <p:cNvPr id="9" name="بطاقة النسبة الإجمالية بما فيها الأربعة"/>
          <p:cNvSpPr/>
          <p:nvPr/>
        </p:nvSpPr>
        <p:spPr>
          <a:xfrm>
            <a:off x="548640" y="3749040"/>
            <a:ext cx="4572000" cy="1737360"/>
          </a:xfrm>
          <a:prstGeom prst="roundRect">
            <a:avLst>
              <a:gd name="adj" fmla="val 6316"/>
            </a:avLst>
          </a:prstGeom>
          <a:solidFill>
            <a:srgbClr val="F4F7FE"/>
          </a:solidFill>
          <a:ln w="9525">
            <a:solidFill>
              <a:srgbClr val="D8E0F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391363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083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47091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النسبة الإجمالية بما فيها الأربعة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50749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4,490 من 5,474 تحويلًا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239512" y="4846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نعرفه وما لا نعرفه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239512" y="521208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المؤكد: نمط شبه كامل «لم يتم استلامها» في هذه الفروع الأربعة.</a:t>
            </a:r>
            <a:endParaRPr lang="en-US" sz="14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غير المؤكد: السبب (عدم استلام فعلي أم عدم تحديث الحالة على السيستم) — يتطلب مراجعة ميدانية.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العنوان"/>
          <p:cNvSpPr txBox="1"/>
          <p:nvPr/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مسح الحالات: «تحديث خطأ» هو السبب الأكبر، والمندوب أكثر وظيفة مخطئة</a:t>
            </a:r>
            <a:endParaRPr lang="en-US" sz="3000" dirty="0"/>
          </a:p>
        </p:txBody>
      </p:sp>
      <p:sp>
        <p:nvSpPr>
          <p:cNvPr id="3" name="العنوان الفرعي"/>
          <p:cNvSpPr txBox="1"/>
          <p:nvPr/>
        </p:nvSpPr>
        <p:spPr>
          <a:xfrm>
            <a:off x="548640" y="120700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سجلات المسح، سبتمبر – أكتوبر 2026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60350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بطاقة إجمالي شحنات المسح"/>
          <p:cNvSpPr/>
          <p:nvPr/>
        </p:nvSpPr>
        <p:spPr>
          <a:xfrm>
            <a:off x="9125712" y="182880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4F7FE"/>
          </a:solidFill>
          <a:ln w="9525">
            <a:solidFill>
              <a:srgbClr val="D8E0F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308592" y="1993392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083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784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308592" y="2788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إجمالي شحنات المسح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308592" y="31546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439 سبتمبر · 345 أكتوبر</a:t>
            </a:r>
            <a:endParaRPr lang="en-US" sz="1200" dirty="0"/>
          </a:p>
        </p:txBody>
      </p:sp>
      <p:sp>
        <p:nvSpPr>
          <p:cNvPr id="9" name="بطاقة تحديث خطأ"/>
          <p:cNvSpPr/>
          <p:nvPr/>
        </p:nvSpPr>
        <p:spPr>
          <a:xfrm>
            <a:off x="6382512" y="182880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4F7FE"/>
          </a:solidFill>
          <a:ln w="9525">
            <a:solidFill>
              <a:srgbClr val="D8E0F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65392" y="1993392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D9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76.3%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6565392" y="2788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تحديث خطأ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565392" y="31546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598 من 784 شحنة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382512" y="3794760"/>
            <a:ext cx="5257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«تحديث خطأ»: 71.1% في سبتمبر → 82.9% في أكتوبر (+11.8 نقطة).</a:t>
            </a:r>
            <a:endParaRPr lang="en-US" sz="14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«تعديل سعر»: 87 في سبتمبر → 39 في أكتوبر.</a:t>
            </a:r>
            <a:endParaRPr lang="en-US" sz="14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مسح مرتبط بمندوب: 58.1% → 62.3%.</a:t>
            </a:r>
            <a:endParaRPr lang="en-US" sz="14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«الوكلاء» جهة مسجلة في عمود الفرع: 99 حالة، وليست فرعًا.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العنوان"/>
          <p:cNvSpPr txBox="1"/>
          <p:nvPr/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رصد المشاكل اليومي: تراجع «التأخر في الجرد» وبقاء «عدم الاستلام»</a:t>
            </a:r>
            <a:endParaRPr lang="en-US" sz="3000" dirty="0"/>
          </a:p>
        </p:txBody>
      </p:sp>
      <p:sp>
        <p:nvSpPr>
          <p:cNvPr id="3" name="العنوان الفرعي"/>
          <p:cNvSpPr txBox="1"/>
          <p:nvPr/>
        </p:nvSpPr>
        <p:spPr>
          <a:xfrm>
            <a:off x="548640" y="120700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عدد المشاكل المسجلة شهريًا حسب النوع (يوليو – أكتوبر)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5836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بطاقة إجمالي المشاكل المسجلة"/>
          <p:cNvSpPr/>
          <p:nvPr/>
        </p:nvSpPr>
        <p:spPr>
          <a:xfrm>
            <a:off x="7434072" y="1783080"/>
            <a:ext cx="4206240" cy="1600200"/>
          </a:xfrm>
          <a:prstGeom prst="roundRect">
            <a:avLst>
              <a:gd name="adj" fmla="val 6857"/>
            </a:avLst>
          </a:prstGeom>
          <a:solidFill>
            <a:srgbClr val="F4F7FE"/>
          </a:solidFill>
          <a:ln w="9525">
            <a:solidFill>
              <a:srgbClr val="D8E0F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16952" y="194767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083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1,114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616952" y="2743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إجمالي المشاكل المسجلة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616952" y="310896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13 أبريل 2026 إلى 26 أكتوبر 2026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434072" y="3611880"/>
            <a:ext cx="4206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التأخر في الجرد: 155 في يوليو (62.8%) ← 36 في أكتوبر (12.1%).</a:t>
            </a:r>
            <a:endParaRPr lang="en-US" sz="14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عدم الاستلام: 58 في سبتمبر و57 في أكتوبر.</a:t>
            </a:r>
            <a:endParaRPr lang="en-US" sz="14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الحالة النهائية مسجلة في 33 من 1,114 فقط (3.0%) — لا يمكن قياس نسبة الإغلاق.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العنوان"/>
          <p:cNvSpPr txBox="1"/>
          <p:nvPr/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لائحة الجزاءات: ارتفاع الإحالات للتحقيق وتعدي عدد الإجراءات في أكتوبر</a:t>
            </a:r>
            <a:endParaRPr lang="en-US" sz="3000" dirty="0"/>
          </a:p>
        </p:txBody>
      </p:sp>
      <p:sp>
        <p:nvSpPr>
          <p:cNvPr id="3" name="العنوان الفرعي"/>
          <p:cNvSpPr txBox="1"/>
          <p:nvPr/>
        </p:nvSpPr>
        <p:spPr>
          <a:xfrm>
            <a:off x="548640" y="120700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الإجراءات المتخذة شهريًا (يوليو – أكتوبر)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5836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بطاقة إجمالي الإجراءات"/>
          <p:cNvSpPr/>
          <p:nvPr/>
        </p:nvSpPr>
        <p:spPr>
          <a:xfrm>
            <a:off x="7434072" y="1783080"/>
            <a:ext cx="4206240" cy="1600200"/>
          </a:xfrm>
          <a:prstGeom prst="roundRect">
            <a:avLst>
              <a:gd name="adj" fmla="val 6857"/>
            </a:avLst>
          </a:prstGeom>
          <a:solidFill>
            <a:srgbClr val="F4F7FE"/>
          </a:solidFill>
          <a:ln w="9525">
            <a:solidFill>
              <a:srgbClr val="D8E0F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16952" y="194767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083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593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616952" y="2743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إجمالي الإجراءات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616952" y="310896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253 تحذير فقط · 114 إحالة للتحقيق · 97 تعدي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434072" y="3611880"/>
            <a:ext cx="4206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الإحالة للتحقيق: 11 (12.4%) في سبتمبر ← 37 (32.5%) في أكتوبر.</a:t>
            </a:r>
            <a:endParaRPr lang="en-US" sz="14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تعدي عدد الإجراءات: 11 ← 38 (33.3% من إجراءات أكتوبر).</a:t>
            </a:r>
            <a:endParaRPr lang="en-US" sz="14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أكثر أسباب الجزاء: التأخر في الجرد (194) وعدم الرد على شيت audit (107).</a:t>
            </a:r>
            <a:endParaRPr lang="en-US" sz="14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عمود «تطبيق الغرامة» فارغ في المصدر، فلا تُعرض قيمة مالية.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العنوان"/>
          <p:cNvSpPr txBox="1"/>
          <p:nvPr/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 Pickup: كل الحالات المسجلة لم يرد عليها الفرع بعد</a:t>
            </a:r>
            <a:endParaRPr lang="en-US" sz="3000" dirty="0"/>
          </a:p>
        </p:txBody>
      </p:sp>
      <p:sp>
        <p:nvSpPr>
          <p:cNvPr id="3" name="العنوان الفرعي"/>
          <p:cNvSpPr txBox="1"/>
          <p:nvPr/>
        </p:nvSpPr>
        <p:spPr>
          <a:xfrm>
            <a:off x="548640" y="120700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 حالة في تقرير 26 أكتوبر 2026 — 72 طلب عميل و33 بيك اب مستلم</a:t>
            </a:r>
            <a:endParaRPr lang="en-US" sz="1400" dirty="0"/>
          </a:p>
        </p:txBody>
      </p:sp>
      <p:sp>
        <p:nvSpPr>
          <p:cNvPr id="4" name="بطاقة لم يرد الفرع"/>
          <p:cNvSpPr/>
          <p:nvPr/>
        </p:nvSpPr>
        <p:spPr>
          <a:xfrm>
            <a:off x="8095488" y="1783080"/>
            <a:ext cx="3544824" cy="1600200"/>
          </a:xfrm>
          <a:prstGeom prst="roundRect">
            <a:avLst>
              <a:gd name="adj" fmla="val 6857"/>
            </a:avLst>
          </a:prstGeom>
          <a:solidFill>
            <a:srgbClr val="F4F7FE"/>
          </a:solidFill>
          <a:ln w="9525">
            <a:solidFill>
              <a:srgbClr val="D8E0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78368" y="1947672"/>
            <a:ext cx="3179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D9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78368" y="2743200"/>
            <a:ext cx="3179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 يرد الفرع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78368" y="3108960"/>
            <a:ext cx="3179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 من 105 حالة</a:t>
            </a:r>
            <a:endParaRPr lang="en-US" sz="1200" dirty="0"/>
          </a:p>
        </p:txBody>
      </p:sp>
      <p:sp>
        <p:nvSpPr>
          <p:cNvPr id="8" name="بطاقة الفرع المسؤول عن الرد غير محدد"/>
          <p:cNvSpPr/>
          <p:nvPr/>
        </p:nvSpPr>
        <p:spPr>
          <a:xfrm>
            <a:off x="4322064" y="1783080"/>
            <a:ext cx="3544824" cy="1600200"/>
          </a:xfrm>
          <a:prstGeom prst="roundRect">
            <a:avLst>
              <a:gd name="adj" fmla="val 6857"/>
            </a:avLst>
          </a:prstGeom>
          <a:solidFill>
            <a:srgbClr val="F4F7FE"/>
          </a:solidFill>
          <a:ln w="9525">
            <a:solidFill>
              <a:srgbClr val="D8E0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04944" y="1947672"/>
            <a:ext cx="3179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F790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504944" y="2743200"/>
            <a:ext cx="3179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الفرع المسؤول عن الرد غير محدد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04944" y="3108960"/>
            <a:ext cx="3179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 حالة</a:t>
            </a:r>
            <a:endParaRPr lang="en-US" sz="1200" dirty="0"/>
          </a:p>
        </p:txBody>
      </p:sp>
      <p:sp>
        <p:nvSpPr>
          <p:cNvPr id="12" name="بطاقة مراجعة الأوديت لم تتم"/>
          <p:cNvSpPr/>
          <p:nvPr/>
        </p:nvSpPr>
        <p:spPr>
          <a:xfrm>
            <a:off x="548640" y="1783080"/>
            <a:ext cx="3544824" cy="1600200"/>
          </a:xfrm>
          <a:prstGeom prst="roundRect">
            <a:avLst>
              <a:gd name="adj" fmla="val 6857"/>
            </a:avLst>
          </a:prstGeom>
          <a:solidFill>
            <a:srgbClr val="F4F7FE"/>
          </a:solidFill>
          <a:ln w="9525">
            <a:solidFill>
              <a:srgbClr val="D8E0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1947672"/>
            <a:ext cx="3179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083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2743200"/>
            <a:ext cx="3179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مراجعة الأوديت لم تتم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108960"/>
            <a:ext cx="3179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 حالة</a:t>
            </a:r>
            <a:endParaRPr lang="en-US" sz="12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48640" y="3611880"/>
          <a:ext cx="64008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6793992" y="374904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«لا يوجد مخطئ» و«خدمة العملاء» تمثلان 71% من الحالات (75 من 105).</a:t>
            </a:r>
            <a:endParaRPr lang="en-US" sz="14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الفرع المخطئ معروض كما في الشيت وغير مؤكد قبل مراجعة الأوديت.</a:t>
            </a:r>
            <a:endParaRPr lang="en-US" sz="14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تاريخ إنشاء الحالة غير متوفر، فعمر الحالة غير محسوب.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العنوان"/>
          <p:cNvSpPr txBox="1"/>
          <p:nvPr/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«الرئيسي» يتصدر الجهات المنسوب إليها الخطأ في أكثر من لوحة</a:t>
            </a:r>
            <a:endParaRPr lang="en-US" sz="3000" dirty="0"/>
          </a:p>
        </p:txBody>
      </p:sp>
      <p:sp>
        <p:nvSpPr>
          <p:cNvPr id="3" name="العنوان الفرعي"/>
          <p:cNvSpPr txBox="1"/>
          <p:nvPr/>
        </p:nvSpPr>
        <p:spPr>
          <a:xfrm>
            <a:off x="548640" y="120700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أعلى الجهات في كل لوحة — التعريفات تختلف بين اللوحات فلا تُجمع الأعداد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6611112"/>
                <a:gridCol w="2011680"/>
                <a:gridCol w="2468880"/>
              </a:tblGrid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أعلى 3 جهات (عدد السجلات)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C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معيار الجهة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C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اللوحة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C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الرئيسي (228)، اكتوبر (23)، مدينه نصر (18)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الفرع المخطئ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المطابقة الصباحية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الرئيسي (126)، العجوزه (92)، الشروق (31)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الفرع المخطئ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مطابقة التحويلات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مدينه نصر (112)، الوكلاء (99)، حدائق القبه (69)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الفرع المسجل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مسح الحالات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الهرم (108)، اكتوبر (108)، حدائق القبه (104)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الفرع المسجل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رصد المشاكل اليومي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اكتوبر (101)، الرئيسي (82)، الهرم (60)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الفرع المسجل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لائحة الجزاءات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486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المطابقة الصباحية والتحويلات «الرئيسي» هو الجهة الأولى في الخطأ المنسوب. في مسح الحالات «الوكلاء» جهة وليست فرعًا. الجداول تعدّ السجلات ولا تحسب معدلاً لعدم توفر حجم عمل كل فرع.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العنوان"/>
          <p:cNvSpPr txBox="1"/>
          <p:nvPr/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التوصيات المقترحة وقرارات مطلوبة من الإدارة</a:t>
            </a:r>
            <a:endParaRPr lang="en-US" sz="3000" dirty="0"/>
          </a:p>
        </p:txBody>
      </p:sp>
      <p:sp>
        <p:nvSpPr>
          <p:cNvPr id="3" name="العنوان الفرعي"/>
          <p:cNvSpPr txBox="1"/>
          <p:nvPr/>
        </p:nvSpPr>
        <p:spPr>
          <a:xfrm>
            <a:off x="548640" y="120700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مقترحات من التحليل وليست قرارات معتمدة — المسؤول والموعد يُحددان من الإدارة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033272"/>
                <a:gridCol w="1371600"/>
                <a:gridCol w="4663440"/>
                <a:gridCol w="3566160"/>
                <a:gridCol w="457200"/>
              </a:tblGrid>
              <a:tr h="4114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المسؤول / الموعد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C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الأولوية (مقترحة)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C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الإجراء المقترح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C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النتيجة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C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C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يُحدد من الإدارة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D92D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عالية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مراجعة ميدانية لهذه الفروع للتحقق من الاستلام الفعلي وتحديث الحالة على السيستم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71% من التحويلات غير المستلمة في 4 فروع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يُحدد من الإدارة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D92D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عالية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مراجعة إجراءات الإدارة الرئيسية في التبليغ والتحويل مع تحديد أسباب التكرار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«الرئيسي» أكثر جهة منسوب إليها الخطأ في المطابقة والتحويلات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يُحدد من الإدارة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D92D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عالية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قرار إداري موحد لحالات تعدي عدد الإجراءات ومراجعة اتساق تطبيق اللائحة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ارتفاع الإحالات للتحقيق وتعدي الإجراءات في أكتوبر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يُحدد من الإدارة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7900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متوسطة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تحديد الفرع المسؤول عن الرد لكل حالة ومهلة موحدة للرد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 Pickup: لا ردود من الفروع ولا فرع مسؤول محدد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يُحدد من الإدارة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7900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متوسطة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توحيد إدخال البيانات (التاريخ، الحالة النهائية، تاريخ إنشاء الحالة) ليصح قياس الاتجاه والإغلاق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فجوات تسجيل: حالة نهائية شبه فارغة، فترات بلا بيانات، تواريخ غير صالحة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العنوان"/>
          <p:cNvSpPr txBox="1"/>
          <p:nvPr/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ملاحظات منهجية</a:t>
            </a:r>
            <a:endParaRPr lang="en-US" sz="3000" dirty="0"/>
          </a:p>
        </p:txBody>
      </p:sp>
      <p:sp>
        <p:nvSpPr>
          <p:cNvPr id="3" name="العنوان الفرعي"/>
          <p:cNvSpPr txBox="1"/>
          <p:nvPr/>
        </p:nvSpPr>
        <p:spPr>
          <a:xfrm>
            <a:off x="548640" y="120700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حُسبت المؤشرات ولماذا يجب قراءتها بحذر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9167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المصدر: اللقطة المضمّنة في الداشبورد بتاريخ 26 أكتوبر 2026؛ الشيت المباشر قد يكون أحدث (التحويلات عندنا حتى 5 أكتوبر فقط).</a:t>
            </a:r>
            <a:endParaRPr lang="en-US" sz="1700" dirty="0"/>
          </a:p>
          <a:p>
            <a:pPr rtl="1" algn="r"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نسبة التحويل الصحيح = «تحويل صحيح» ÷ السجلات التي لها حكم؛ السجلات بلا حكم (86 سجلًا) لا تدخل في المقام.</a:t>
            </a:r>
            <a:endParaRPr lang="en-US" sz="1700" dirty="0"/>
          </a:p>
          <a:p>
            <a:pPr rtl="1" algn="r"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نسبة المطابقة المكتملة = «مطابقة مكتملة» ÷ السجلات التي لها حالة تبليغ (2,267 من 3,468).</a:t>
            </a:r>
            <a:endParaRPr lang="en-US" sz="1700" dirty="0"/>
          </a:p>
          <a:p>
            <a:pPr rtl="1" algn="r"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الأعداد تُحسب على مستوى السجل، وبعض البوالص تتكرر في أكثر من سجل (التحويلات: 585 بوليصة).</a:t>
            </a:r>
            <a:endParaRPr lang="en-US" sz="1700" dirty="0"/>
          </a:p>
          <a:p>
            <a:pPr rtl="1" algn="r"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يتوفر في المصدر حجم عمل كل فرع، لذلك لا تُحسب معدلات خطأ للفروع في المسح والمشاكل والجزاءات.</a:t>
            </a:r>
            <a:endParaRPr lang="en-US" sz="1700" dirty="0"/>
          </a:p>
          <a:p>
            <a:pPr rtl="1" algn="r"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مقارنة الأشهر تتأثر باختلاف طول الفترة (أكتوبر حتى 26 أكتوبر، والتحويلات حتى 5 أكتوبر) واختلاف جودة التسجيل.</a:t>
            </a:r>
            <a:endParaRPr lang="en-US" sz="1700" dirty="0"/>
          </a:p>
          <a:p>
            <a:pPr rtl="1" algn="r"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يظهر هنا نمط بيانات وليس إثباتًا لسبب؛ تحديد السبب يتطلب مراجعة ميدانية.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RIVE Audit">
  <a:themeElements>
    <a:clrScheme name="ARRIVE Audit">
      <a:dk1>
        <a:srgbClr val="0F172A"/>
      </a:dk1>
      <a:lt1>
        <a:srgbClr val="FFFFFF"/>
      </a:lt1>
      <a:dk2>
        <a:srgbClr val="0837C9"/>
      </a:dk2>
      <a:lt2>
        <a:srgbClr val="F4F7FE"/>
      </a:lt2>
      <a:accent1>
        <a:srgbClr val="0837C9"/>
      </a:accent1>
      <a:accent2>
        <a:srgbClr val="00A9C7"/>
      </a:accent2>
      <a:accent3>
        <a:srgbClr val="D92D20"/>
      </a:accent3>
      <a:accent4>
        <a:srgbClr val="F79009"/>
      </a:accent4>
      <a:accent5>
        <a:srgbClr val="12B76A"/>
      </a:accent5>
      <a:accent6>
        <a:srgbClr val="667085"/>
      </a:accent6>
      <a:hlink>
        <a:srgbClr val="0837C9"/>
      </a:hlink>
      <a:folHlink>
        <a:srgbClr val="667085"/>
      </a:folHlink>
    </a:clrScheme>
    <a:fontScheme name="ARRIVE Audi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تقرير الرقابة التشغيلية – ARRIVE</dc:title>
  <dc:subject>PptxGenJS Presentation</dc:subject>
  <dc:creator>إدارة المراجعة – ARRIVE</dc:creator>
  <cp:lastModifiedBy>إدارة المراجعة – ARRIVE</cp:lastModifiedBy>
  <cp:revision>1</cp:revision>
  <dcterms:created xsi:type="dcterms:W3CDTF">2026-11-01T18:55:53Z</dcterms:created>
  <dcterms:modified xsi:type="dcterms:W3CDTF">2026-11-01T18:55:53Z</dcterms:modified>
</cp:coreProperties>
</file>